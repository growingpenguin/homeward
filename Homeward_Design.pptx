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01ca3f4b-fb36-b156-c6eb-d6c81e7643d6}">
          <p14:sldIdLst>
            <p14:sldId id="256"/>
            <p14:sldId id="257"/>
            <p14:sldId id="258"/>
          </p14:sldIdLst>
        </p14:section>
        <p14:section name="Database" id="{b04d9285-1352-1522-6ce1-677619a7a61d}">
          <p14:sldIdLst>
            <p14:sldId id="259"/>
            <p14:sldId id="260"/>
            <p14:sldId id="261"/>
            <p14:sldId id="262"/>
          </p14:sldIdLst>
        </p14:section>
        <p14:section name="Backend" id="{f9ee6b95-6ad6-4d92-3411-6aa2a9aaa255}">
          <p14:sldIdLst>
            <p14:sldId id="263"/>
            <p14:sldId id="264"/>
            <p14:sldId id="265"/>
            <p14:sldId id="266"/>
          </p14:sldIdLst>
        </p14:section>
        <p14:section name="Frontend" id="{43b356c5-5670-ed34-667c-f8e685bd0a10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design deck: database first, then the backend built on it, then the frontend volunteers use. Problem and introduction slides come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plan on one page. People at a shelter desk use the frontend; the frontend talks to the backend over HTTPS; the backend talks to the database with SQL. The right column shows the privacy rule each layer enforces, so a mistake in one layer is caught by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top to bottom in the same order as the deck: database, backend, frontend.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records on the left. On the right: the view matching reads, and the two tables that make the system traceable and fixable.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rule was tested by trying to break it on a real PostgreSQL: 30 checks, all passed.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top to bottom: a request passes security, a thin controller, then one service that holds the rule, then a repository, then the database, which checks the hardest rules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users are not experts, so these rules come before any feature. Every screen is checked against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194560"/>
            <a:ext cx="1127729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429000"/>
            <a:ext cx="1127729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Homeward · Technical design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6.png"/><Relationship Id="rId8" Type="http://schemas.openxmlformats.org/officeDocument/2006/relationships/image" Target="../media/image-2-6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194560"/>
            <a:ext cx="112772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Homeward: Technical design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429000"/>
            <a:ext cx="112772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Fullstack Challenge 26F · Reuniting Separated Families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Database → Backend → Frontend of a shelter-run reunification desk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whole picture</a:t>
            </a:r>
            <a:endParaRPr lang="en-US" sz="3200" dirty="0"/>
          </a:p>
        </p:txBody>
      </p:sp>
      <p:pic>
        <p:nvPicPr>
          <p:cNvPr id="3" name="Image 0" descr="/private/tmp/claude-501/-Users-growingpenguin/fa5be591-87ff-438d-9fd7-dd235648fe27/scratchpad/deck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841248"/>
            <a:ext cx="292608" cy="292608"/>
          </a:xfrm>
          <a:prstGeom prst="rect">
            <a:avLst/>
          </a:prstGeom>
        </p:spPr>
      </p:pic>
      <p:sp>
        <p:nvSpPr>
          <p:cNvPr id="4" name="Privacy header"/>
          <p:cNvSpPr txBox="1"/>
          <p:nvPr/>
        </p:nvSpPr>
        <p:spPr>
          <a:xfrm>
            <a:off x="8778240" y="822960"/>
            <a:ext cx="2956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Privacy at every layer</a:t>
            </a:r>
            <a:endParaRPr lang="en-US" sz="1400" dirty="0"/>
          </a:p>
        </p:txBody>
      </p:sp>
      <p:sp>
        <p:nvSpPr>
          <p:cNvPr id="5" name="People at the shelter desk box"/>
          <p:cNvSpPr/>
          <p:nvPr/>
        </p:nvSpPr>
        <p:spPr>
          <a:xfrm>
            <a:off x="457200" y="1234440"/>
            <a:ext cx="768096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/private/tmp/claude-501/-Users-growingpenguin/fa5be591-87ff-438d-9fd7-dd235648fe27/scratchpad/deck/icons/peo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411480" cy="411480"/>
          </a:xfrm>
          <a:prstGeom prst="rect">
            <a:avLst/>
          </a:prstGeom>
        </p:spPr>
      </p:pic>
      <p:sp>
        <p:nvSpPr>
          <p:cNvPr id="7" name="People at the shelter desk"/>
          <p:cNvSpPr txBox="1"/>
          <p:nvPr/>
        </p:nvSpPr>
        <p:spPr>
          <a:xfrm>
            <a:off x="1280160" y="1234440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People at the shelter desk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volunteer helps a survivor · paper forms · printed code + PIN slips</a:t>
            </a:r>
            <a:endParaRPr lang="en-US" sz="1600" dirty="0"/>
          </a:p>
        </p:txBody>
      </p:sp>
      <p:sp>
        <p:nvSpPr>
          <p:cNvPr id="8" name="People at the shelter desk privacy box"/>
          <p:cNvSpPr/>
          <p:nvPr/>
        </p:nvSpPr>
        <p:spPr>
          <a:xfrm>
            <a:off x="8412480" y="1234440"/>
            <a:ext cx="3322015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9" name="People at the shelter desk privacy"/>
          <p:cNvSpPr txBox="1"/>
          <p:nvPr/>
        </p:nvSpPr>
        <p:spPr>
          <a:xfrm>
            <a:off x="8549640" y="1234440"/>
            <a:ext cx="3047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Only a name is needed; "Ask me first" is the default</a:t>
            </a:r>
            <a:endParaRPr lang="en-US" sz="1200" dirty="0"/>
          </a:p>
        </p:txBody>
      </p:sp>
      <p:sp>
        <p:nvSpPr>
          <p:cNvPr id="10" name="Frontend (React + Vite, on Netlify) box"/>
          <p:cNvSpPr/>
          <p:nvPr/>
        </p:nvSpPr>
        <p:spPr>
          <a:xfrm>
            <a:off x="457200" y="2468880"/>
            <a:ext cx="76809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2" descr="/private/tmp/claude-501/-Users-growingpenguin/fa5be591-87ff-438d-9fd7-dd235648fe27/scratchpad/deck/icons/fronte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97480"/>
            <a:ext cx="411480" cy="411480"/>
          </a:xfrm>
          <a:prstGeom prst="rect">
            <a:avLst/>
          </a:prstGeom>
        </p:spPr>
      </p:pic>
      <p:sp>
        <p:nvSpPr>
          <p:cNvPr id="12" name="Frontend (React + Vite, on Netlify)"/>
          <p:cNvSpPr txBox="1"/>
          <p:nvPr/>
        </p:nvSpPr>
        <p:spPr>
          <a:xfrm>
            <a:off x="1280160" y="2468880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Frontend (React + Vite, on Netlify)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 screens: Register · Search · Check a code · Answers waiting · Lead page</a:t>
            </a:r>
            <a:endParaRPr lang="en-US" sz="1600" dirty="0"/>
          </a:p>
        </p:txBody>
      </p:sp>
      <p:sp>
        <p:nvSpPr>
          <p:cNvPr id="13" name="Frontend (React + Vite, on Netlify) privacy box"/>
          <p:cNvSpPr/>
          <p:nvPr/>
        </p:nvSpPr>
        <p:spPr>
          <a:xfrm>
            <a:off x="8412480" y="2468880"/>
            <a:ext cx="3322015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14" name="Frontend (React + Vite, on Netlify) privacy"/>
          <p:cNvSpPr txBox="1"/>
          <p:nvPr/>
        </p:nvSpPr>
        <p:spPr>
          <a:xfrm>
            <a:off x="8549640" y="2468880"/>
            <a:ext cx="3047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searcher's screen has no location field; locks after 10 minutes</a:t>
            </a:r>
            <a:endParaRPr lang="en-US" sz="1200" dirty="0"/>
          </a:p>
        </p:txBody>
      </p:sp>
      <p:sp>
        <p:nvSpPr>
          <p:cNvPr id="15" name="Backend (Kotlin + Spring Boot, on Render) box"/>
          <p:cNvSpPr/>
          <p:nvPr/>
        </p:nvSpPr>
        <p:spPr>
          <a:xfrm>
            <a:off x="457200" y="3703320"/>
            <a:ext cx="76809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6" name="Image 3" descr="/private/tmp/claude-501/-Users-growingpenguin/fa5be591-87ff-438d-9fd7-dd235648fe27/scratchpad/deck/icons/back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31920"/>
            <a:ext cx="411480" cy="411480"/>
          </a:xfrm>
          <a:prstGeom prst="rect">
            <a:avLst/>
          </a:prstGeom>
        </p:spPr>
      </p:pic>
      <p:sp>
        <p:nvSpPr>
          <p:cNvPr id="17" name="Backend (Kotlin + Spring Boot, on Render)"/>
          <p:cNvSpPr txBox="1"/>
          <p:nvPr/>
        </p:nvSpPr>
        <p:spPr>
          <a:xfrm>
            <a:off x="1280160" y="3703320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Backend (Kotlin + Spring Boot, on Render)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Security · Visibility · Consent · Reunion codes · Matching · Audit</a:t>
            </a:r>
            <a:endParaRPr lang="en-US" sz="1600" dirty="0"/>
          </a:p>
        </p:txBody>
      </p:sp>
      <p:sp>
        <p:nvSpPr>
          <p:cNvPr id="18" name="Backend (Kotlin + Spring Boot, on Render) privacy box"/>
          <p:cNvSpPr/>
          <p:nvPr/>
        </p:nvSpPr>
        <p:spPr>
          <a:xfrm>
            <a:off x="8412480" y="3703320"/>
            <a:ext cx="3322015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19" name="Backend (Kotlin + Spring Boot, on Render) privacy"/>
          <p:cNvSpPr txBox="1"/>
          <p:nvPr/>
        </p:nvSpPr>
        <p:spPr>
          <a:xfrm>
            <a:off x="8549640" y="3703320"/>
            <a:ext cx="3047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 place decides what a searcher sees; every reveal is logged</a:t>
            </a:r>
            <a:endParaRPr lang="en-US" sz="1200" dirty="0"/>
          </a:p>
        </p:txBody>
      </p:sp>
      <p:sp>
        <p:nvSpPr>
          <p:cNvPr id="20" name="Database (PostgreSQL, on Neon) box"/>
          <p:cNvSpPr/>
          <p:nvPr/>
        </p:nvSpPr>
        <p:spPr>
          <a:xfrm>
            <a:off x="457200" y="4937760"/>
            <a:ext cx="76809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Image 4" descr="/private/tmp/claude-501/-Users-growingpenguin/fa5be591-87ff-438d-9fd7-dd235648fe27/scratchpad/deck/icons/databa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66360"/>
            <a:ext cx="411480" cy="411480"/>
          </a:xfrm>
          <a:prstGeom prst="rect">
            <a:avLst/>
          </a:prstGeom>
        </p:spPr>
      </p:pic>
      <p:sp>
        <p:nvSpPr>
          <p:cNvPr id="22" name="Database (PostgreSQL, on Neon)"/>
          <p:cNvSpPr txBox="1"/>
          <p:nvPr/>
        </p:nvSpPr>
        <p:spPr>
          <a:xfrm>
            <a:off x="1280160" y="4937760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Database (PostgreSQL, on Neon)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People, searches, requests, codes · location-free view · safety triggers · insert-only audit log</a:t>
            </a:r>
            <a:endParaRPr lang="en-US" sz="1600" dirty="0"/>
          </a:p>
        </p:txBody>
      </p:sp>
      <p:sp>
        <p:nvSpPr>
          <p:cNvPr id="23" name="Database (PostgreSQL, on Neon) privacy box"/>
          <p:cNvSpPr/>
          <p:nvPr/>
        </p:nvSpPr>
        <p:spPr>
          <a:xfrm>
            <a:off x="8412480" y="4937760"/>
            <a:ext cx="3322015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24" name="Database (PostgreSQL, on Neon) privacy"/>
          <p:cNvSpPr txBox="1"/>
          <p:nvPr/>
        </p:nvSpPr>
        <p:spPr>
          <a:xfrm>
            <a:off x="8549640" y="4937760"/>
            <a:ext cx="3047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Hidden people never matched; triggers block an unsafe "Connect"</a:t>
            </a:r>
            <a:endParaRPr lang="en-US" sz="1200" dirty="0"/>
          </a:p>
        </p:txBody>
      </p:sp>
      <p:pic>
        <p:nvPicPr>
          <p:cNvPr id="25" name="Image 5" descr="/private/tmp/claude-501/-Users-growingpenguin/fa5be591-87ff-438d-9fd7-dd235648fe27/scratchpad/deck/icons/arrow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8880" y="2148840"/>
            <a:ext cx="237744" cy="237744"/>
          </a:xfrm>
          <a:prstGeom prst="rect">
            <a:avLst/>
          </a:prstGeom>
        </p:spPr>
      </p:pic>
      <p:sp>
        <p:nvSpPr>
          <p:cNvPr id="26" name="Arrow: taps and types, one question per step"/>
          <p:cNvSpPr txBox="1"/>
          <p:nvPr/>
        </p:nvSpPr>
        <p:spPr>
          <a:xfrm>
            <a:off x="2788920" y="2130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taps and types, one question per step</a:t>
            </a:r>
            <a:endParaRPr lang="en-US" sz="1200" dirty="0"/>
          </a:p>
        </p:txBody>
      </p:sp>
      <p:pic>
        <p:nvPicPr>
          <p:cNvPr id="27" name="Image 6" descr="/private/tmp/claude-501/-Users-growingpenguin/fa5be591-87ff-438d-9fd7-dd235648fe27/scratchpad/deck/icons/arrow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8880" y="3383280"/>
            <a:ext cx="237744" cy="237744"/>
          </a:xfrm>
          <a:prstGeom prst="rect">
            <a:avLst/>
          </a:prstGeom>
        </p:spPr>
      </p:pic>
      <p:sp>
        <p:nvSpPr>
          <p:cNvPr id="28" name="Arrow: HTTPS /api/* (JSON) · login cookie + CSRF token"/>
          <p:cNvSpPr txBox="1"/>
          <p:nvPr/>
        </p:nvSpPr>
        <p:spPr>
          <a:xfrm>
            <a:off x="2788920" y="33649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 /api/* (JSON) · login cookie + CSRF token</a:t>
            </a:r>
            <a:endParaRPr lang="en-US" sz="1200" dirty="0"/>
          </a:p>
        </p:txBody>
      </p:sp>
      <p:pic>
        <p:nvPicPr>
          <p:cNvPr id="29" name="Image 7" descr="/private/tmp/claude-501/-Users-growingpenguin/fa5be591-87ff-438d-9fd7-dd235648fe27/scratchpad/deck/icons/arrow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68880" y="4617720"/>
            <a:ext cx="237744" cy="237744"/>
          </a:xfrm>
          <a:prstGeom prst="rect">
            <a:avLst/>
          </a:prstGeom>
        </p:spPr>
      </p:pic>
      <p:sp>
        <p:nvSpPr>
          <p:cNvPr id="30" name="Arrow: SQL through Spring JDBC, as the limited app user"/>
          <p:cNvSpPr txBox="1"/>
          <p:nvPr/>
        </p:nvSpPr>
        <p:spPr>
          <a:xfrm>
            <a:off x="278892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SQL through Spring JDBC, as the limited app user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Technical stack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931920"/>
                <a:gridCol w="56052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Layer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Choice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Why, for this problem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Database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PostgreSQL on Neon (pg_trgm, fuzzystrmatch, unaccent)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Fuzzy name matching, plus rules the database enforces itself (view, triggers, insert-only audit)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Migrations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Flyway (V1__init.sql)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Schema is versioned; applied migrations are never edited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Backend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Kotlin 2.2+ · Spring Boot 4 + Spring Security 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Null safety for "unknown"; a searcher's reply has no location field; proven login and roles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Data access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Spring JDBC (JdbcClient)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Hand-written matching SQL stays visible; parameterized queries only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Frontend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React + Vite + TypeScript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Static files open instantly; types generated from the backend's API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Forms &amp; data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React Hook Form + zod · TanStack Query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 a name required, friendly messages; quiet retries on bad Wi-Fi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Tests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Testcontainers (real Postgres) · Vitest · 3–5 non-experts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Privacy rules tested for real; usability tested with people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Deploy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Netlify → Render (Docker) → Neon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Free tiers; the page loads even while the backend wakes up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PostgreSQL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926080"/>
                <a:gridCol w="237744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Need (from the scenario)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PostgreSQL ✅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MySQL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MongoDB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Fuzzy name matching (spelling + sound)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✅ pg_trgm + dmetaphone in SQL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🟡 SOUNDEX only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🟡 Atlas Search, separate index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Safety rules enforced inside the database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✅ CHECK, triggers, views, grants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✅ CHECK, triggers, grants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🟡 Schema validation only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Free hosting that doesn't expire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✅ Neon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🟡 Fewer good free tiers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✅ Atlas M0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457200" y="356616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Chosen by one question: which database can enforce the privacy rules by itself, even if the app has a bug?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Hosted on Neon: Render's free database expires after about 30 days, and Supabase pauses free projects after a week.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the tables connect</a:t>
            </a:r>
            <a:endParaRPr lang="en-US" sz="3200" dirty="0"/>
          </a:p>
        </p:txBody>
      </p:sp>
      <p:sp>
        <p:nvSpPr>
          <p:cNvPr id="3" name="shelters"/>
          <p:cNvSpPr/>
          <p:nvPr/>
        </p:nvSpPr>
        <p:spPr>
          <a:xfrm>
            <a:off x="3108960" y="1325880"/>
            <a:ext cx="2377440" cy="64008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shelters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one row per desk</a:t>
            </a:r>
            <a:endParaRPr lang="en-US" sz="1300" dirty="0"/>
          </a:p>
        </p:txBody>
      </p:sp>
      <p:sp>
        <p:nvSpPr>
          <p:cNvPr id="4" name="persons"/>
          <p:cNvSpPr/>
          <p:nvPr/>
        </p:nvSpPr>
        <p:spPr>
          <a:xfrm>
            <a:off x="548640" y="2743200"/>
            <a:ext cx="256032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persons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only a name required; no ID columns</a:t>
            </a:r>
            <a:endParaRPr lang="en-US" sz="1300" dirty="0"/>
          </a:p>
        </p:txBody>
      </p:sp>
      <p:sp>
        <p:nvSpPr>
          <p:cNvPr id="5" name="searches"/>
          <p:cNvSpPr/>
          <p:nvPr/>
        </p:nvSpPr>
        <p:spPr>
          <a:xfrm>
            <a:off x="5486400" y="2743200"/>
            <a:ext cx="256032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searches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who someone is looking for</a:t>
            </a:r>
            <a:endParaRPr lang="en-US" sz="1300" dirty="0"/>
          </a:p>
        </p:txBody>
      </p:sp>
      <p:sp>
        <p:nvSpPr>
          <p:cNvPr id="6" name="contact_requests"/>
          <p:cNvSpPr/>
          <p:nvPr/>
        </p:nvSpPr>
        <p:spPr>
          <a:xfrm>
            <a:off x="2743200" y="4206240"/>
            <a:ext cx="310896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contact_requests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pending → connected / safe_only / declined / blocked</a:t>
            </a:r>
            <a:endParaRPr lang="en-US" sz="1300" dirty="0"/>
          </a:p>
        </p:txBody>
      </p:sp>
      <p:sp>
        <p:nvSpPr>
          <p:cNvPr id="7" name="reunion_codes"/>
          <p:cNvSpPr/>
          <p:nvPr/>
        </p:nvSpPr>
        <p:spPr>
          <a:xfrm>
            <a:off x="548640" y="5394960"/>
            <a:ext cx="256032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reunion_codes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printed code + BCrypt PIN</a:t>
            </a:r>
            <a:endParaRPr lang="en-US" sz="1300" dirty="0"/>
          </a:p>
        </p:txBody>
      </p:sp>
      <p:sp>
        <p:nvSpPr>
          <p:cNvPr id="8" name="safety_flags"/>
          <p:cNvSpPr/>
          <p:nvPr/>
        </p:nvSpPr>
        <p:spPr>
          <a:xfrm>
            <a:off x="5486400" y="5394960"/>
            <a:ext cx="256032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safety_flags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about one person or one search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0" y="1965960"/>
            <a:ext cx="0" cy="41148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0" y="2377440"/>
            <a:ext cx="2011680" cy="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28800" y="2377440"/>
            <a:ext cx="0" cy="36576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54880" y="1965960"/>
            <a:ext cx="0" cy="41148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2377440"/>
            <a:ext cx="2011680" cy="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0" y="2377440"/>
            <a:ext cx="0" cy="36576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377440" y="3520440"/>
            <a:ext cx="0" cy="32004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77440" y="3840480"/>
            <a:ext cx="1188720" cy="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66160" y="3840480"/>
            <a:ext cx="0" cy="36576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17920" y="3520440"/>
            <a:ext cx="0" cy="32004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0" y="3840480"/>
            <a:ext cx="1188720" cy="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3840480"/>
            <a:ext cx="0" cy="36576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97280" y="3520440"/>
            <a:ext cx="0" cy="187452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498080" y="3520440"/>
            <a:ext cx="0" cy="187452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search_candidates (view)"/>
          <p:cNvSpPr/>
          <p:nvPr/>
        </p:nvSpPr>
        <p:spPr>
          <a:xfrm>
            <a:off x="8503920" y="1325880"/>
            <a:ext cx="3230575" cy="105156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search_candidates (view)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What matching reads: no shelter, home area or phone; hidden and protected people left out</a:t>
            </a:r>
            <a:endParaRPr lang="en-US" sz="1300" dirty="0"/>
          </a:p>
        </p:txBody>
      </p:sp>
      <p:sp>
        <p:nvSpPr>
          <p:cNvPr id="24" name="audit_log"/>
          <p:cNvSpPr/>
          <p:nvPr/>
        </p:nvSpPr>
        <p:spPr>
          <a:xfrm>
            <a:off x="8503920" y="2560320"/>
            <a:ext cx="3230575" cy="1051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audit_log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Who did what, when. The app can only add rows; the database sets the time</a:t>
            </a:r>
            <a:endParaRPr lang="en-US" sz="1300" dirty="0"/>
          </a:p>
        </p:txBody>
      </p:sp>
      <p:sp>
        <p:nvSpPr>
          <p:cNvPr id="25" name="person_history"/>
          <p:cNvSpPr/>
          <p:nvPr/>
        </p:nvSpPr>
        <p:spPr>
          <a:xfrm>
            <a:off x="8503920" y="3794760"/>
            <a:ext cx="3230575" cy="1051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person_history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snapshot before every edit, written by a trigger the app can't fake</a:t>
            </a:r>
            <a:endParaRPr lang="en-US" sz="1300" dirty="0"/>
          </a:p>
        </p:txBody>
      </p:sp>
      <p:sp>
        <p:nvSpPr>
          <p:cNvPr id="26" name="Also"/>
          <p:cNvSpPr/>
          <p:nvPr/>
        </p:nvSpPr>
        <p:spPr>
          <a:xfrm>
            <a:off x="8503920" y="5029200"/>
            <a:ext cx="3230575" cy="105156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Also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staff, match_candidates (never suggested twice), nicknames (Bill ↔ William)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Rules the database enforces itself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91840"/>
                <a:gridCol w="4782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Constraint (from the scenario)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Enforced by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How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Some people don't want to be found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search_candidates view, safety_flags, guard trigger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Hidden and protected people are never matched; a flag blocks "Connect" and undoes earlier reveals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Children are never released without a lead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treated_as_minor(), guard trigger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Unknown age counts as a child unless marked as an adult; searching or found, a child needs a lead, a guardian check and a note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Many people have no phone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reunion_codes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HW- + 4 characters (no 0/O/1/I); BCrypt-only PIN; one working code per person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Many people have no ID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persons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 a name is required; no ID, birth date, SSN or immigration columns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Each shelter keeps its own list, some on paper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persons.id, source, paper_ref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 same ID sent twice is ignored; a paper row must point to its sheet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Volunteers are exhausted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person_history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 snapshot of every edit, written by a trigger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Every search and reveal is traceable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audit_log + permissions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 app can only add rows; time set by the database; fixed list of actions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Matching names without ID</a:t>
            </a:r>
            <a:endParaRPr lang="en-US" sz="3200" dirty="0"/>
          </a:p>
        </p:txBody>
      </p:sp>
      <p:sp>
        <p:nvSpPr>
          <p:cNvPr id="3" name="Spelling"/>
          <p:cNvSpPr/>
          <p:nvPr/>
        </p:nvSpPr>
        <p:spPr>
          <a:xfrm>
            <a:off x="457200" y="1325880"/>
            <a:ext cx="2743200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Spelling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pg_trgm similarity: "Rodrigez" ≈ "Rodriguez"</a:t>
            </a:r>
            <a:endParaRPr lang="en-US" sz="1600" dirty="0"/>
          </a:p>
        </p:txBody>
      </p:sp>
      <p:sp>
        <p:nvSpPr>
          <p:cNvPr id="4" name="Sound"/>
          <p:cNvSpPr/>
          <p:nvPr/>
        </p:nvSpPr>
        <p:spPr>
          <a:xfrm>
            <a:off x="3474720" y="1325880"/>
            <a:ext cx="2743200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Sound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dmetaphone on every word: "Katherine" = "Catherine"</a:t>
            </a:r>
            <a:endParaRPr lang="en-US" sz="1600" dirty="0"/>
          </a:p>
        </p:txBody>
      </p:sp>
      <p:sp>
        <p:nvSpPr>
          <p:cNvPr id="5" name="Nicknames"/>
          <p:cNvSpPr/>
          <p:nvPr/>
        </p:nvSpPr>
        <p:spPr>
          <a:xfrm>
            <a:off x="457200" y="2926080"/>
            <a:ext cx="2743200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Nicknames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small table, both ways: Bill ↔ William, Pepe ↔ José</a:t>
            </a:r>
            <a:endParaRPr lang="en-US" sz="1600" dirty="0"/>
          </a:p>
        </p:txBody>
      </p:sp>
      <p:sp>
        <p:nvSpPr>
          <p:cNvPr id="6" name="Accents"/>
          <p:cNvSpPr/>
          <p:nvPr/>
        </p:nvSpPr>
        <p:spPr>
          <a:xfrm>
            <a:off x="3474720" y="2926080"/>
            <a:ext cx="2743200" cy="1325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Accents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unaccent: "jose perez" finds "José Pérez"</a:t>
            </a:r>
            <a:endParaRPr lang="en-US" sz="1600" dirty="0"/>
          </a:p>
        </p:txBody>
      </p:sp>
      <p:sp>
        <p:nvSpPr>
          <p:cNvPr id="7" name="Example"/>
          <p:cNvSpPr/>
          <p:nvPr/>
        </p:nvSpPr>
        <p:spPr>
          <a:xfrm>
            <a:off x="6675120" y="1325880"/>
            <a:ext cx="5059375" cy="2926080"/>
          </a:xfrm>
          <a:prstGeom prst="roundRect">
            <a:avLst>
              <a:gd name="adj" fmla="val 187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Example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Search: "Katherine Rodrigez", age 75–85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→ Catherine Rodriguez, 80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spelling 0.56 · 1 word sounds alike · age close</a:t>
            </a:r>
            <a:endParaRPr lang="en-US" sz="1600" dirty="0"/>
          </a:p>
        </p:txBody>
      </p:sp>
      <p:sp>
        <p:nvSpPr>
          <p:cNvPr id="8" name="Note"/>
          <p:cNvSpPr txBox="1"/>
          <p:nvPr/>
        </p:nvSpPr>
        <p:spPr>
          <a:xfrm>
            <a:off x="457200" y="452628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Each technique misses something, so they work together: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"Rodrigez" and "Rodriguez" don't sound alike to dmetaphone, but spelling still matches them. The database only returns signals; the backend ranks them and a person decides.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Kotlin + Spring Boot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834640"/>
                <a:gridCol w="2377440"/>
                <a:gridCol w="27706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Need (from the scenario)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Kotlin + Spring Boot ✅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NestJS (Node)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Python + FastAPI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Can't leak a location by accident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✅ No location fields (compile-time)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🟡 Tests only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🟡 Runtime filter (response_model)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Login, roles, idle lock without custom security code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✅ Spring Security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🟡 Passport + guards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🟡 Build most of it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Fast cold start on free hosting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❌ Slow JVM start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✅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✅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akeaway"/>
          <p:cNvSpPr txBox="1"/>
          <p:nvPr/>
        </p:nvSpPr>
        <p:spPr>
          <a:xfrm>
            <a:off x="457200" y="356616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Wins the rows that protect people, loses the one about hosting.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Fallback: if the cold start is too slow on day 1, switch to Kotlin + Ktor. Language, types, SQL and schema stay the same.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Which class does what</a:t>
            </a:r>
            <a:endParaRPr lang="en-US" sz="3200" dirty="0"/>
          </a:p>
        </p:txBody>
      </p:sp>
      <p:sp>
        <p:nvSpPr>
          <p:cNvPr id="3" name="Layer Client"/>
          <p:cNvSpPr txBox="1"/>
          <p:nvPr/>
        </p:nvSpPr>
        <p:spPr>
          <a:xfrm>
            <a:off x="457200" y="1188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Client</a:t>
            </a:r>
            <a:endParaRPr lang="en-US" sz="1200" dirty="0"/>
          </a:p>
        </p:txBody>
      </p:sp>
      <p:sp>
        <p:nvSpPr>
          <p:cNvPr id="4" name="React app (Netlify)"/>
          <p:cNvSpPr/>
          <p:nvPr/>
        </p:nvSpPr>
        <p:spPr>
          <a:xfrm>
            <a:off x="2011680" y="1188720"/>
            <a:ext cx="9722815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React app (Netlify)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Sends /api/* with the session cookie + CSRF token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73088" y="1645920"/>
            <a:ext cx="0" cy="22860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6" name="Layer security/"/>
          <p:cNvSpPr txBox="1"/>
          <p:nvPr/>
        </p:nvSpPr>
        <p:spPr>
          <a:xfrm>
            <a:off x="457200" y="1874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security/</a:t>
            </a:r>
            <a:endParaRPr lang="en-US" sz="1200" dirty="0"/>
          </a:p>
        </p:txBody>
      </p:sp>
      <p:sp>
        <p:nvSpPr>
          <p:cNvPr id="7" name="SecurityConfig + IdleLockFilter"/>
          <p:cNvSpPr/>
          <p:nvPr/>
        </p:nvSpPr>
        <p:spPr>
          <a:xfrm>
            <a:off x="2011680" y="1874520"/>
            <a:ext cx="9722815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tx2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SecurityConfig + IdleLockFilter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Staff login (shelter + name + PIN) · roles volunteer &lt; lead &lt; coordinator · 10-min idle lock · CSRF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73088" y="2331720"/>
            <a:ext cx="0" cy="22860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Layer web/"/>
          <p:cNvSpPr txBox="1"/>
          <p:nvPr/>
        </p:nvSpPr>
        <p:spPr>
          <a:xfrm>
            <a:off x="457200" y="25603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web/</a:t>
            </a:r>
            <a:endParaRPr lang="en-US" sz="1200" dirty="0"/>
          </a:p>
        </p:txBody>
      </p:sp>
      <p:sp>
        <p:nvSpPr>
          <p:cNvPr id="10" name="RegisterController"/>
          <p:cNvSpPr/>
          <p:nvPr/>
        </p:nvSpPr>
        <p:spPr>
          <a:xfrm>
            <a:off x="2011680" y="2560320"/>
            <a:ext cx="1798259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tx2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RegisterController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Intake: "I'm here"</a:t>
            </a:r>
            <a:endParaRPr lang="en-US" sz="1200" dirty="0"/>
          </a:p>
        </p:txBody>
      </p:sp>
      <p:sp>
        <p:nvSpPr>
          <p:cNvPr id="11" name="SearchController"/>
          <p:cNvSpPr/>
          <p:nvPr/>
        </p:nvSpPr>
        <p:spPr>
          <a:xfrm>
            <a:off x="3992819" y="2560320"/>
            <a:ext cx="1798259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tx2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SearchController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"I'm looking for someone" + status</a:t>
            </a:r>
            <a:endParaRPr lang="en-US" sz="1200" dirty="0"/>
          </a:p>
        </p:txBody>
      </p:sp>
      <p:sp>
        <p:nvSpPr>
          <p:cNvPr id="12" name="LookupController"/>
          <p:cNvSpPr/>
          <p:nvPr/>
        </p:nvSpPr>
        <p:spPr>
          <a:xfrm>
            <a:off x="5973958" y="2560320"/>
            <a:ext cx="1798259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tx2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LookupController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Code + PIN at the desk</a:t>
            </a:r>
            <a:endParaRPr lang="en-US" sz="1200" dirty="0"/>
          </a:p>
        </p:txBody>
      </p:sp>
      <p:sp>
        <p:nvSpPr>
          <p:cNvPr id="13" name="LeadController"/>
          <p:cNvSpPr/>
          <p:nvPr/>
        </p:nvSpPr>
        <p:spPr>
          <a:xfrm>
            <a:off x="7955097" y="2560320"/>
            <a:ext cx="1798259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tx2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LeadController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Matches, minors, reissue</a:t>
            </a:r>
            <a:endParaRPr lang="en-US" sz="1200" dirty="0"/>
          </a:p>
        </p:txBody>
      </p:sp>
      <p:sp>
        <p:nvSpPr>
          <p:cNvPr id="14" name="SearcherStatus"/>
          <p:cNvSpPr/>
          <p:nvPr/>
        </p:nvSpPr>
        <p:spPr>
          <a:xfrm>
            <a:off x="9936236" y="2560320"/>
            <a:ext cx="1798259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tx2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SearcherStatus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Only reply to searchers: no location fields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73088" y="3246120"/>
            <a:ext cx="0" cy="22860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6" name="Layer service/"/>
          <p:cNvSpPr txBox="1"/>
          <p:nvPr/>
        </p:nvSpPr>
        <p:spPr>
          <a:xfrm>
            <a:off x="457200" y="347472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service/</a:t>
            </a:r>
            <a:endParaRPr lang="en-US" sz="1200" dirty="0"/>
          </a:p>
        </p:txBody>
      </p:sp>
      <p:sp>
        <p:nvSpPr>
          <p:cNvPr id="17" name="VisibilityService"/>
          <p:cNvSpPr/>
          <p:nvPr/>
        </p:nvSpPr>
        <p:spPr>
          <a:xfrm>
            <a:off x="2011680" y="3474720"/>
            <a:ext cx="1798259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VisibilityService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Decides what a searcher sees; checks the desk or their slip, and flags</a:t>
            </a:r>
            <a:endParaRPr lang="en-US" sz="1200" dirty="0"/>
          </a:p>
        </p:txBody>
      </p:sp>
      <p:sp>
        <p:nvSpPr>
          <p:cNvPr id="18" name="ConsentService"/>
          <p:cNvSpPr/>
          <p:nvPr/>
        </p:nvSpPr>
        <p:spPr>
          <a:xfrm>
            <a:off x="3992819" y="3474720"/>
            <a:ext cx="1798259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ConsentService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Connect / Safe / Say no; "findable" = yes in advance; a child needs a lead</a:t>
            </a:r>
            <a:endParaRPr lang="en-US" sz="1200" dirty="0"/>
          </a:p>
        </p:txBody>
      </p:sp>
      <p:sp>
        <p:nvSpPr>
          <p:cNvPr id="19" name="ReunionCodeService"/>
          <p:cNvSpPr/>
          <p:nvPr/>
        </p:nvSpPr>
        <p:spPr>
          <a:xfrm>
            <a:off x="5973958" y="3474720"/>
            <a:ext cx="1798259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ReunionCodeService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Code + PIN; 5-try lock; same reply on a miss</a:t>
            </a:r>
            <a:endParaRPr lang="en-US" sz="1200" dirty="0"/>
          </a:p>
        </p:txBody>
      </p:sp>
      <p:sp>
        <p:nvSpPr>
          <p:cNvPr id="20" name="MatchingService"/>
          <p:cNvSpPr/>
          <p:nvPr/>
        </p:nvSpPr>
        <p:spPr>
          <a:xfrm>
            <a:off x="7955097" y="3474720"/>
            <a:ext cx="1798259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MatchingService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Fuzzy name + age clues; only suggests</a:t>
            </a:r>
            <a:endParaRPr lang="en-US" sz="1200" dirty="0"/>
          </a:p>
        </p:txBody>
      </p:sp>
      <p:sp>
        <p:nvSpPr>
          <p:cNvPr id="21" name="AuditService"/>
          <p:cNvSpPr/>
          <p:nvPr/>
        </p:nvSpPr>
        <p:spPr>
          <a:xfrm>
            <a:off x="9936236" y="3474720"/>
            <a:ext cx="1798259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AuditService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Logs every search, lookup and reveal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73088" y="4343400"/>
            <a:ext cx="0" cy="22860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Layer repo/"/>
          <p:cNvSpPr txBox="1"/>
          <p:nvPr/>
        </p:nvSpPr>
        <p:spPr>
          <a:xfrm>
            <a:off x="457200" y="45720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repo/</a:t>
            </a:r>
            <a:endParaRPr lang="en-US" sz="1200" dirty="0"/>
          </a:p>
        </p:txBody>
      </p:sp>
      <p:sp>
        <p:nvSpPr>
          <p:cNvPr id="24" name="PersonRepo"/>
          <p:cNvSpPr/>
          <p:nvPr/>
        </p:nvSpPr>
        <p:spPr>
          <a:xfrm>
            <a:off x="2011680" y="4572000"/>
            <a:ext cx="1798259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tx2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PersonRepo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Safe re-sends</a:t>
            </a:r>
            <a:endParaRPr lang="en-US" sz="1200" dirty="0"/>
          </a:p>
        </p:txBody>
      </p:sp>
      <p:sp>
        <p:nvSpPr>
          <p:cNvPr id="25" name="SearchRepo"/>
          <p:cNvSpPr/>
          <p:nvPr/>
        </p:nvSpPr>
        <p:spPr>
          <a:xfrm>
            <a:off x="3992819" y="4572000"/>
            <a:ext cx="1798259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tx2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SearchRepo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Shelter-scoped</a:t>
            </a:r>
            <a:endParaRPr lang="en-US" sz="1200" dirty="0"/>
          </a:p>
        </p:txBody>
      </p:sp>
      <p:sp>
        <p:nvSpPr>
          <p:cNvPr id="26" name="ContactRequestRepo"/>
          <p:cNvSpPr/>
          <p:nvPr/>
        </p:nvSpPr>
        <p:spPr>
          <a:xfrm>
            <a:off x="5973958" y="4572000"/>
            <a:ext cx="1798259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tx2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ContactRequestRepo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Decisions</a:t>
            </a:r>
            <a:endParaRPr lang="en-US" sz="1200" dirty="0"/>
          </a:p>
        </p:txBody>
      </p:sp>
      <p:sp>
        <p:nvSpPr>
          <p:cNvPr id="27" name="ReunionCodeRepo"/>
          <p:cNvSpPr/>
          <p:nvPr/>
        </p:nvSpPr>
        <p:spPr>
          <a:xfrm>
            <a:off x="7955097" y="4572000"/>
            <a:ext cx="1798259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tx2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ReunionCodeRepo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FOR UPDATE lock</a:t>
            </a:r>
            <a:endParaRPr lang="en-US" sz="1200" dirty="0"/>
          </a:p>
        </p:txBody>
      </p:sp>
      <p:sp>
        <p:nvSpPr>
          <p:cNvPr id="28" name="SafetyFlagRepo"/>
          <p:cNvSpPr/>
          <p:nvPr/>
        </p:nvSpPr>
        <p:spPr>
          <a:xfrm>
            <a:off x="9936236" y="4572000"/>
            <a:ext cx="1798259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tx2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SafetyFlagRepo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Flags beat all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73088" y="5074920"/>
            <a:ext cx="0" cy="22860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0" name="Layer Database"/>
          <p:cNvSpPr txBox="1"/>
          <p:nvPr/>
        </p:nvSpPr>
        <p:spPr>
          <a:xfrm>
            <a:off x="457200" y="530352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Database</a:t>
            </a:r>
            <a:endParaRPr lang="en-US" sz="1200" dirty="0"/>
          </a:p>
        </p:txBody>
      </p:sp>
      <p:sp>
        <p:nvSpPr>
          <p:cNvPr id="31" name="PostgreSQL on Neon (Flyway V1__init.sql)"/>
          <p:cNvSpPr/>
          <p:nvPr/>
        </p:nvSpPr>
        <p:spPr>
          <a:xfrm>
            <a:off x="2011680" y="5303520"/>
            <a:ext cx="9722815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tx2"/>
            </a:solidFill>
          </a:ln>
        </p:spPr>
        <p:txBody>
          <a:bodyPr wrap="square" lIns="508" tIns="1016" rIns="1016" bIns="508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PostgreSQL on Neon (Flyway V1__init.sql)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search_candidates view with no location · trigger: no connect with a safety flag, no child without a lead · audit_log is insert-only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Each constraint has a class that enforces it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4690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Constraint (from the scenario)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Enforced by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How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Some people don't want to be found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SearcherStatus, VisibilityService, DB view + trigger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Same reply for no match / hidden / declined; safety flags checked before every reveal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Children are never released without a lead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ConsentService.releaseMinor, DB trigger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Lead role + guardian check + note, when either side is a child; approver taken from the login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Many people have no phone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ReunionCodeService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Printed code + PIN at any desk; BCrypt; 5-try lock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Many people have no ID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RegisterPersonRequest, MatchingService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 a name is required; no ID fields at all; matches only suggest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Each shelter keeps its own list, some on paper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PersonRepo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One shared DB; same UUID never saved twice; paper source + date kept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Volunteers are non-technical and exhausted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SecurityConfig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12-hour shift login, 10-min idle lock, plain-sentence errors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Every search and reveal is traceable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AuditService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Insert-only log, written in the same transaction as the action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Tradeoffs I'm accepting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88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Gave up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How I reduce the cost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Slow cold start: Render's free tier sleeps after ~15 min; a JVM can take up to a minute to wake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Netlify frontend loads instantly and shows "Connecting. Please wait"; lazy initialization; measured on day 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Memory (512 MB on the free tier)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-XX:MaxRAMPercentage=75; only the Spring starters actually used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Less familiar to lab reviewers than Node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Short, commented Kotlin; the README explains the choice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457200" y="320040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Still open: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re-test on Neon's PostgreSQL version, the data retention job (90 days), re-running searches after new arrivals, issuing codes, adults who can't decide for themselves.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a React + Vite web app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651760"/>
                <a:gridCol w="2560320"/>
                <a:gridCol w="22219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Need (from the scenario)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React + Vite ✅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Next.js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SvelteKit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Opens instantly even while the backend is asleep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✅ Static files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🟡 Its own server can sleep too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✅ Static files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Mature libraries for accessible, step-by-step forms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✅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✅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🟡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Small download on slow Wi-Fi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🟡 Code-split per page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🟡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✅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457200" y="356616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web app run by volunteers, not a phone app: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survivors have no phones, any shelter laptop or tablet works with nothing to install, and it can print slips and paper forms.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Usability rules for non-experts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4233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Rule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What it means here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Where you see it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Recognition, not recall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Nobody remembers a command or a code format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Home's 3 buttons, 3 privacy cards, code keys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Few choices per screen (Hick's law)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More choices = slower decisions, more mistakes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buttons on Home; one question per step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Big targets (Fitts's law)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Tired hands miss small buttons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Everything at least 48 × 48 px; whole cards clickable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Prevent errors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Make the wrong thing impossible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 a name required; code box drops look-alikes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Show what's happening, honestly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 frozen screen makes people give up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"Step 2 of 5", "Not sent yet", "Connecting"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Speak the user's language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"visibility", "record" or "server"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All text in one file; "Say:" boxes to read aloud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Forgive and recover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Interruptions are normal in a shelter line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Drafts survive reloads; "I don't know" is an answer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Five screens, one main action each</a:t>
            </a:r>
            <a:endParaRPr lang="en-US" sz="3200" dirty="0"/>
          </a:p>
        </p:txBody>
      </p:sp>
      <p:sp>
        <p:nvSpPr>
          <p:cNvPr id="3" name="Log in"/>
          <p:cNvSpPr/>
          <p:nvPr/>
        </p:nvSpPr>
        <p:spPr>
          <a:xfrm>
            <a:off x="457200" y="132588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Log in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shelter + name + PIN</a:t>
            </a:r>
            <a:endParaRPr lang="en-US" sz="1300" dirty="0"/>
          </a:p>
        </p:txBody>
      </p:sp>
      <p:sp>
        <p:nvSpPr>
          <p:cNvPr id="4" name="Home"/>
          <p:cNvSpPr/>
          <p:nvPr/>
        </p:nvSpPr>
        <p:spPr>
          <a:xfrm>
            <a:off x="3291840" y="1325880"/>
            <a:ext cx="576072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Home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 big buttons</a:t>
            </a:r>
            <a:endParaRPr lang="en-US" sz="1300" dirty="0"/>
          </a:p>
        </p:txBody>
      </p:sp>
      <p:sp>
        <p:nvSpPr>
          <p:cNvPr id="5" name="Lead page"/>
          <p:cNvSpPr/>
          <p:nvPr/>
        </p:nvSpPr>
        <p:spPr>
          <a:xfrm>
            <a:off x="9509760" y="1325880"/>
            <a:ext cx="2224735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dash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Lead page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children, flags, lost slips (leads only)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34640" y="1668780"/>
            <a:ext cx="457200" cy="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72200" y="2011680"/>
            <a:ext cx="0" cy="27432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40280" y="2286000"/>
            <a:ext cx="7708392" cy="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40280" y="2286000"/>
            <a:ext cx="0" cy="27432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99048" y="2286000"/>
            <a:ext cx="0" cy="27432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948672" y="2286000"/>
            <a:ext cx="0" cy="27432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Someone is here"/>
          <p:cNvSpPr/>
          <p:nvPr/>
        </p:nvSpPr>
        <p:spPr>
          <a:xfrm>
            <a:off x="457200" y="2560320"/>
            <a:ext cx="35661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Someone is here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Register: one question per step (5 steps, 6 when copying from paper)</a:t>
            </a:r>
            <a:endParaRPr lang="en-US" sz="1300" dirty="0"/>
          </a:p>
        </p:txBody>
      </p:sp>
      <p:sp>
        <p:nvSpPr>
          <p:cNvPr id="13" name="Someone is looking for family"/>
          <p:cNvSpPr/>
          <p:nvPr/>
        </p:nvSpPr>
        <p:spPr>
          <a:xfrm>
            <a:off x="4315968" y="2560320"/>
            <a:ext cx="35661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Someone is looking for family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Search: match cards show reasons, never a location</a:t>
            </a:r>
            <a:endParaRPr lang="en-US" sz="1300" dirty="0"/>
          </a:p>
        </p:txBody>
      </p:sp>
      <p:sp>
        <p:nvSpPr>
          <p:cNvPr id="14" name="Check a code"/>
          <p:cNvSpPr/>
          <p:nvPr/>
        </p:nvSpPr>
        <p:spPr>
          <a:xfrm>
            <a:off x="8165592" y="2560320"/>
            <a:ext cx="35661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Check a code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Type it or tap big keys, then the PIN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40280" y="3429000"/>
            <a:ext cx="0" cy="36576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99048" y="3429000"/>
            <a:ext cx="0" cy="36576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948672" y="3429000"/>
            <a:ext cx="0" cy="36576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Print slip"/>
          <p:cNvSpPr/>
          <p:nvPr/>
        </p:nvSpPr>
        <p:spPr>
          <a:xfrm>
            <a:off x="457200" y="3794760"/>
            <a:ext cx="3566160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Print slip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code + PIN + desk phone</a:t>
            </a:r>
            <a:endParaRPr lang="en-US" sz="1300" dirty="0"/>
          </a:p>
        </p:txBody>
      </p:sp>
      <p:sp>
        <p:nvSpPr>
          <p:cNvPr id="19" name="Searcher's slip + request"/>
          <p:cNvSpPr/>
          <p:nvPr/>
        </p:nvSpPr>
        <p:spPr>
          <a:xfrm>
            <a:off x="4315968" y="3794760"/>
            <a:ext cx="3566160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Searcher's slip + request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slip printed every time; send a request if a match fits, or save the search</a:t>
            </a:r>
            <a:endParaRPr lang="en-US" sz="1300" dirty="0"/>
          </a:p>
        </p:txBody>
      </p:sp>
      <p:sp>
        <p:nvSpPr>
          <p:cNvPr id="20" name="Answers waiting / turn the screen around"/>
          <p:cNvSpPr/>
          <p:nvPr/>
        </p:nvSpPr>
        <p:spPr>
          <a:xfrm>
            <a:off x="8165592" y="3794760"/>
            <a:ext cx="3566160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  <p:txBody>
          <a:bodyPr wrap="square" lIns="508" tIns="1270" rIns="1270" bIns="508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Answers waiting / turn the screen around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Connect · Safe · Not now · Say no — or show the searcher their answer</a:t>
            </a:r>
            <a:endParaRPr lang="en-US" sz="1300" dirty="0"/>
          </a:p>
        </p:txBody>
      </p:sp>
      <p:sp>
        <p:nvSpPr>
          <p:cNvPr id="21" name="Note"/>
          <p:cNvSpPr txBox="1"/>
          <p:nvPr/>
        </p:nvSpPr>
        <p:spPr>
          <a:xfrm>
            <a:off x="457200" y="493776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Core loop: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search → confirm a match and send the request → the other desk's Answers waiting → the searcher checks back at any desk with their slip. "Tell them where I am" means yes in advance; children always go to a lead.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Each constraint has a screen that handles it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108960"/>
                <a:gridCol w="4782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Constraint (from the scenario)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Handled by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How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Volunteers are non-technical and exhausted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Home, BigButton, SayThis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big buttons, one question per step, exact words to read out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Some people don't want to be found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VisibilityChoice, SearcherView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"Ask me first" pre-selected; the searcher's screen has no location field and is always fresh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Many people have no phone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CodeKeypad, printed slip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Type, paste or tap; only valid code characters kept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Many people have no ID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registerSchema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Only a name; empty age = unknown; no ID questions anywhere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Each shelter keeps its own list, some on paper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Paper mode, blank form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Switched on once per stack; the same ID is re-sent, never a duplicate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Bad Wi-Fi and a sleeping server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queryClient, ConnectionBanner, useDraft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Quiet retries, an honest banner, drafts that survive a reload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Shared laptops left on desks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useIdleLock, AppShell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Locks after 10 minutes; the lock screen replaces the app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Tradeoffs, and how I'll test it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729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702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Gave up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How I reduce the cost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Fewer features than a full disaster system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What's there works without training; the rest is listed as Later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Online-first (no full offline mode)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Drafts kept on the device, quiet retries, safe re-sends, an honest banner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Survivors can't use it themselves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 volunteer at every step; an interpreter is fetched before any consent question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457200" y="3246120"/>
            <a:ext cx="112772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Later: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offline mode, undo history, Spanish, household links, a self-service "I'm safe" page.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Will test with 3–5 non-experts: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register Rosa in under 2 minutes, search for Mia, check a slip code, reload mid-form, come back to a locked screen, copy two paper forms by keyboard.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meward Plain">
  <a:themeElements>
    <a:clrScheme name="Homeward Plain">
      <a:dk1>
        <a:srgbClr val="212121"/>
      </a:dk1>
      <a:lt1>
        <a:srgbClr val="FFFFFF"/>
      </a:lt1>
      <a:dk2>
        <a:srgbClr val="36454F"/>
      </a:dk2>
      <a:lt2>
        <a:srgbClr val="F2F4F5"/>
      </a:lt2>
      <a:accent1>
        <a:srgbClr val="1C7293"/>
      </a:accent1>
      <a:accent2>
        <a:srgbClr val="B85042"/>
      </a:accent2>
      <a:accent3>
        <a:srgbClr val="6B7B83"/>
      </a:accent3>
      <a:accent4>
        <a:srgbClr val="A7BEAE"/>
      </a:accent4>
      <a:accent5>
        <a:srgbClr val="50808E"/>
      </a:accent5>
      <a:accent6>
        <a:srgbClr val="84B59F"/>
      </a:accent6>
      <a:hlink>
        <a:srgbClr val="1C7293"/>
      </a:hlink>
      <a:folHlink>
        <a:srgbClr val="50808E"/>
      </a:folHlink>
    </a:clrScheme>
    <a:fontScheme name="Homeward Plai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Homeward – Design</dc:title>
  <dc:subject>PptxGenJS Presentation</dc:subject>
  <dc:creator>PptxGenJS</dc:creator>
  <cp:lastModifiedBy>PptxGenJS</cp:lastModifiedBy>
  <cp:revision>1</cp:revision>
  <dcterms:created xsi:type="dcterms:W3CDTF">2026-10-20T04:14:06Z</dcterms:created>
  <dcterms:modified xsi:type="dcterms:W3CDTF">2026-10-20T04:14:06Z</dcterms:modified>
</cp:coreProperties>
</file>